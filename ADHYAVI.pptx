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2" r:id="rId4"/>
  </p:sldMasterIdLst>
  <p:notesMasterIdLst>
    <p:notesMasterId r:id="rId15"/>
  </p:notesMasterIdLst>
  <p:sldIdLst>
    <p:sldId id="278" r:id="rId5"/>
    <p:sldId id="288" r:id="rId6"/>
    <p:sldId id="281" r:id="rId7"/>
    <p:sldId id="283" r:id="rId8"/>
    <p:sldId id="287" r:id="rId9"/>
    <p:sldId id="285" r:id="rId10"/>
    <p:sldId id="280" r:id="rId11"/>
    <p:sldId id="282" r:id="rId12"/>
    <p:sldId id="284" r:id="rId13"/>
    <p:sldId id="28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200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4E7675-3B16-45D3-80BE-81FAEA0A8C00}" v="37" dt="2026-05-18T05:21:08.442"/>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5/18/2026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88D38747-4367-4BD2-8D51-C97E202738E2}" type="datetime1">
              <a:rPr lang="en-US" smtClean="0"/>
              <a:t>5/18/2026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1563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54011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CAE507A8-A5CF-4D38-AB86-7EDDA87A85D4}" type="datetime1">
              <a:rPr lang="en-US" smtClean="0"/>
              <a:t>5/18/2026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9707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9374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5/18/2026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38372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62308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5/18/2026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29600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28732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5/18/2026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47575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3ED0CC-082F-4160-86E5-0D6041F12778}" type="datetime1">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8590530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73ED0CC-082F-4160-86E5-0D6041F12778}" type="datetime1">
              <a:rPr lang="en-US" smtClean="0"/>
              <a:t>5/18/2026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7569806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73ED0CC-082F-4160-86E5-0D6041F12778}" type="datetime1">
              <a:rPr lang="en-US" smtClean="0"/>
              <a:t>5/18/2026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3A98EE3D-8CD1-4C3F-BD1C-C98C9596463C}" type="slidenum">
              <a:rPr lang="en-US" smtClean="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9220066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073ED0CC-082F-4160-86E5-0D6041F12778}" type="datetime1">
              <a:rPr lang="en-US" smtClean="0"/>
              <a:t>5/18/2026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8845399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73ED0CC-082F-4160-86E5-0D6041F12778}" type="datetime1">
              <a:rPr lang="en-US" smtClean="0"/>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381435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73ED0CC-082F-4160-86E5-0D6041F12778}" type="datetime1">
              <a:rPr lang="en-US" smtClean="0"/>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8590220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3ED0CC-082F-4160-86E5-0D6041F12778}" type="datetime1">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9461588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073ED0CC-082F-4160-86E5-0D6041F12778}" type="datetime1">
              <a:rPr lang="en-US" smtClean="0"/>
              <a:t>5/18/2026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7461004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73ED0CC-082F-4160-86E5-0D6041F12778}" type="datetime1">
              <a:rPr lang="en-US" smtClean="0"/>
              <a:t>5/18/2026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462117647"/>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 id="2147483759" r:id="rId17"/>
  </p:sldLayoutIdLst>
  <p:hf sldNum="0"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2813303" y="1083822"/>
            <a:ext cx="6565392" cy="1472012"/>
          </a:xfrm>
        </p:spPr>
        <p:txBody>
          <a:bodyPr>
            <a:noAutofit/>
          </a:bodyPr>
          <a:lstStyle/>
          <a:p>
            <a:pPr algn="ctr"/>
            <a:r>
              <a:rPr lang="en-US" sz="9600" u="sng" dirty="0">
                <a:solidFill>
                  <a:schemeClr val="accent1">
                    <a:lumMod val="75000"/>
                  </a:schemeClr>
                </a:solidFill>
                <a:effectLst>
                  <a:outerShdw blurRad="38100" dist="38100" dir="2700000" algn="tl">
                    <a:srgbClr val="000000">
                      <a:alpha val="43137"/>
                    </a:srgbClr>
                  </a:outerShdw>
                </a:effectLst>
                <a:latin typeface="Algerian" panose="04020705040A02060702" pitchFamily="82" charset="0"/>
                <a:cs typeface="Times New Roman" panose="02020603050405020304" pitchFamily="18" charset="0"/>
              </a:rPr>
              <a:t>ADHYAVI</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2555903" y="3058748"/>
            <a:ext cx="7080191" cy="1179405"/>
          </a:xfrm>
        </p:spPr>
        <p:txBody>
          <a:bodyPr>
            <a:noAutofit/>
          </a:bodyPr>
          <a:lstStyle/>
          <a:p>
            <a:pPr algn="ctr"/>
            <a:r>
              <a:rPr lang="en-US" sz="4000" b="1" dirty="0">
                <a:solidFill>
                  <a:srgbClr val="BE200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AI Emergency Support </a:t>
            </a:r>
          </a:p>
          <a:p>
            <a:pPr algn="ctr"/>
            <a:r>
              <a:rPr lang="en-US" sz="4000" b="1" dirty="0">
                <a:solidFill>
                  <a:srgbClr val="BE200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&amp; Safety Dispatcher</a:t>
            </a:r>
          </a:p>
        </p:txBody>
      </p:sp>
      <p:graphicFrame>
        <p:nvGraphicFramePr>
          <p:cNvPr id="6" name="Table 5">
            <a:extLst>
              <a:ext uri="{FF2B5EF4-FFF2-40B4-BE49-F238E27FC236}">
                <a16:creationId xmlns:a16="http://schemas.microsoft.com/office/drawing/2014/main" id="{ED713FCF-3484-8CBE-79DC-2FEF528E0FA1}"/>
              </a:ext>
            </a:extLst>
          </p:cNvPr>
          <p:cNvGraphicFramePr>
            <a:graphicFrameLocks noGrp="1"/>
          </p:cNvGraphicFramePr>
          <p:nvPr>
            <p:extLst>
              <p:ext uri="{D42A27DB-BD31-4B8C-83A1-F6EECF244321}">
                <p14:modId xmlns:p14="http://schemas.microsoft.com/office/powerpoint/2010/main" val="404735508"/>
              </p:ext>
            </p:extLst>
          </p:nvPr>
        </p:nvGraphicFramePr>
        <p:xfrm>
          <a:off x="7102213" y="5511424"/>
          <a:ext cx="5067761" cy="1346576"/>
        </p:xfrm>
        <a:graphic>
          <a:graphicData uri="http://schemas.openxmlformats.org/drawingml/2006/table">
            <a:tbl>
              <a:tblPr>
                <a:tableStyleId>{3B4B98B0-60AC-42C2-AFA5-B58CD77FA1E5}</a:tableStyleId>
              </a:tblPr>
              <a:tblGrid>
                <a:gridCol w="1865376">
                  <a:extLst>
                    <a:ext uri="{9D8B030D-6E8A-4147-A177-3AD203B41FA5}">
                      <a16:colId xmlns:a16="http://schemas.microsoft.com/office/drawing/2014/main" val="1980266471"/>
                    </a:ext>
                  </a:extLst>
                </a:gridCol>
                <a:gridCol w="3202385">
                  <a:extLst>
                    <a:ext uri="{9D8B030D-6E8A-4147-A177-3AD203B41FA5}">
                      <a16:colId xmlns:a16="http://schemas.microsoft.com/office/drawing/2014/main" val="2040345656"/>
                    </a:ext>
                  </a:extLst>
                </a:gridCol>
              </a:tblGrid>
              <a:tr h="676016">
                <a:tc>
                  <a:txBody>
                    <a:bodyPr/>
                    <a:lstStyle/>
                    <a:p>
                      <a:pPr>
                        <a:buNone/>
                      </a:pPr>
                      <a:r>
                        <a:rPr lang="en-US" b="1" dirty="0">
                          <a:effectLst/>
                        </a:rPr>
                        <a:t>Name</a:t>
                      </a:r>
                      <a:endParaRPr lang="en-IN" b="1" dirty="0">
                        <a:effectLst/>
                      </a:endParaRPr>
                    </a:p>
                  </a:txBody>
                  <a:tcPr marT="60960" marB="60960"/>
                </a:tc>
                <a:tc>
                  <a:txBody>
                    <a:bodyPr/>
                    <a:lstStyle/>
                    <a:p>
                      <a:pPr>
                        <a:buNone/>
                      </a:pPr>
                      <a:r>
                        <a:rPr lang="en-US" b="1" dirty="0">
                          <a:effectLst/>
                        </a:rPr>
                        <a:t>ANUPAMA SETHI</a:t>
                      </a:r>
                      <a:endParaRPr lang="en-IN" b="1" dirty="0">
                        <a:effectLst/>
                      </a:endParaRPr>
                    </a:p>
                  </a:txBody>
                  <a:tcPr marT="60960" marB="60960"/>
                </a:tc>
                <a:extLst>
                  <a:ext uri="{0D108BD9-81ED-4DB2-BD59-A6C34878D82A}">
                    <a16:rowId xmlns:a16="http://schemas.microsoft.com/office/drawing/2014/main" val="2410666728"/>
                  </a:ext>
                </a:extLst>
              </a:tr>
              <a:tr h="643283">
                <a:tc>
                  <a:txBody>
                    <a:bodyPr/>
                    <a:lstStyle/>
                    <a:p>
                      <a:pPr>
                        <a:buNone/>
                      </a:pPr>
                      <a:r>
                        <a:rPr lang="en-IN" b="1" dirty="0">
                          <a:effectLst/>
                        </a:rPr>
                        <a:t>Registration ID</a:t>
                      </a:r>
                    </a:p>
                  </a:txBody>
                  <a:tcPr marT="60960" marB="6096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effectLst/>
                        </a:rPr>
                        <a:t>SummerSaas26752</a:t>
                      </a:r>
                    </a:p>
                    <a:p>
                      <a:pPr>
                        <a:buNone/>
                      </a:pPr>
                      <a:endParaRPr lang="en-IN" b="1" dirty="0">
                        <a:effectLst/>
                      </a:endParaRPr>
                    </a:p>
                  </a:txBody>
                  <a:tcPr marT="60960" marB="60960"/>
                </a:tc>
                <a:extLst>
                  <a:ext uri="{0D108BD9-81ED-4DB2-BD59-A6C34878D82A}">
                    <a16:rowId xmlns:a16="http://schemas.microsoft.com/office/drawing/2014/main" val="1868459953"/>
                  </a:ext>
                </a:extLst>
              </a:tr>
            </a:tbl>
          </a:graphicData>
        </a:graphic>
      </p:graphicFrame>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6A554-1CD1-C255-DA71-C7DDD7278BF7}"/>
              </a:ext>
            </a:extLst>
          </p:cNvPr>
          <p:cNvSpPr>
            <a:spLocks noGrp="1"/>
          </p:cNvSpPr>
          <p:nvPr>
            <p:ph type="ctrTitle"/>
          </p:nvPr>
        </p:nvSpPr>
        <p:spPr>
          <a:xfrm>
            <a:off x="7056120" y="228600"/>
            <a:ext cx="4070792" cy="1664207"/>
          </a:xfrm>
        </p:spPr>
        <p:txBody>
          <a:bodyPr>
            <a:normAutofit/>
          </a:bodyPr>
          <a:lstStyle/>
          <a:p>
            <a:pPr algn="ctr"/>
            <a:r>
              <a:rPr lang="en-US" sz="6700" b="1" u="sng" dirty="0">
                <a:ln w="0"/>
                <a:solidFill>
                  <a:schemeClr val="accent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ADHYAVI</a:t>
            </a:r>
            <a:br>
              <a:rPr lang="en-US" sz="4000" b="1" u="sng" dirty="0">
                <a:latin typeface="Times New Roman" panose="02020603050405020304" pitchFamily="18" charset="0"/>
                <a:cs typeface="Times New Roman" panose="02020603050405020304" pitchFamily="18" charset="0"/>
              </a:rPr>
            </a:br>
            <a:endParaRPr lang="en-IN" sz="4000" b="1" u="sng"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107D412-A49E-E089-344A-2C7C660F7A5D}"/>
              </a:ext>
            </a:extLst>
          </p:cNvPr>
          <p:cNvSpPr>
            <a:spLocks noGrp="1"/>
          </p:cNvSpPr>
          <p:nvPr>
            <p:ph type="subTitle" idx="1"/>
          </p:nvPr>
        </p:nvSpPr>
        <p:spPr>
          <a:xfrm>
            <a:off x="731520" y="1627632"/>
            <a:ext cx="11237976" cy="3685031"/>
          </a:xfrm>
        </p:spPr>
        <p:txBody>
          <a:bodyPr>
            <a:noAutofit/>
          </a:bodyPr>
          <a:lstStyle/>
          <a:p>
            <a:pPr marL="342900" indent="-342900"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Main Title: ADHYAVI</a:t>
            </a:r>
          </a:p>
          <a:p>
            <a:pPr marL="342900" indent="-342900"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Sub-title: AI Emergency Support &amp; Safety Dispatcher</a:t>
            </a:r>
          </a:p>
          <a:p>
            <a:pPr marL="342900" indent="-342900"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 Official Track Information:</a:t>
            </a:r>
          </a:p>
          <a:p>
            <a:pPr marL="342900" indent="-34290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Primary Track: </a:t>
            </a:r>
            <a:r>
              <a:rPr lang="en-IN" dirty="0" err="1">
                <a:latin typeface="Times New Roman" panose="02020603050405020304" pitchFamily="18" charset="0"/>
                <a:cs typeface="Times New Roman" panose="02020603050405020304" pitchFamily="18" charset="0"/>
              </a:rPr>
              <a:t>Saasum</a:t>
            </a:r>
            <a:r>
              <a:rPr lang="en-IN" dirty="0">
                <a:latin typeface="Times New Roman" panose="02020603050405020304" pitchFamily="18" charset="0"/>
                <a:cs typeface="Times New Roman" panose="02020603050405020304" pitchFamily="18" charset="0"/>
              </a:rPr>
              <a:t> AI (AI Customer Support Chatbot Category)   </a:t>
            </a:r>
          </a:p>
          <a:p>
            <a:pPr marL="342900" indent="-34290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Problem Statement: Transforming standard corporate customer service chat blocks into a context-aware emergency safety dispatcher for nighttime commuters.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9313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85D67-087E-27EA-2BB8-DCA7230D75A0}"/>
              </a:ext>
            </a:extLst>
          </p:cNvPr>
          <p:cNvSpPr>
            <a:spLocks noGrp="1"/>
          </p:cNvSpPr>
          <p:nvPr>
            <p:ph type="title"/>
          </p:nvPr>
        </p:nvSpPr>
        <p:spPr>
          <a:xfrm>
            <a:off x="4379495" y="557019"/>
            <a:ext cx="7203065" cy="890692"/>
          </a:xfrm>
        </p:spPr>
        <p:txBody>
          <a:bodyPr>
            <a:noAutofit/>
          </a:bodyPr>
          <a:lstStyle/>
          <a:p>
            <a:r>
              <a:rPr lang="en-IN" sz="3200" b="1" u="sng" dirty="0">
                <a:solidFill>
                  <a:schemeClr val="accent1"/>
                </a:solidFill>
                <a:latin typeface="Times New Roman" panose="02020603050405020304" pitchFamily="18" charset="0"/>
                <a:cs typeface="Times New Roman" panose="02020603050405020304" pitchFamily="18" charset="0"/>
              </a:rPr>
              <a:t>The Core Problem Statement</a:t>
            </a:r>
          </a:p>
        </p:txBody>
      </p:sp>
      <p:sp>
        <p:nvSpPr>
          <p:cNvPr id="3" name="Content Placeholder 2">
            <a:extLst>
              <a:ext uri="{FF2B5EF4-FFF2-40B4-BE49-F238E27FC236}">
                <a16:creationId xmlns:a16="http://schemas.microsoft.com/office/drawing/2014/main" id="{35EFD674-E724-C347-024C-F2DB5CDC4107}"/>
              </a:ext>
            </a:extLst>
          </p:cNvPr>
          <p:cNvSpPr>
            <a:spLocks noGrp="1"/>
          </p:cNvSpPr>
          <p:nvPr>
            <p:ph idx="1"/>
          </p:nvPr>
        </p:nvSpPr>
        <p:spPr>
          <a:xfrm>
            <a:off x="316832" y="1447712"/>
            <a:ext cx="11558336" cy="4770974"/>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Structural Failure of Commercial Chatbots: The primary track problem statement requires the development of an AI Customer Support Chatbot. However, traditional conversational customer service bots are built entirely for safe, static commercial environments—such as answering retail delivery questions, managing item returns, or processing credit card resets.</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When applied to real-world, high-stress public transit crises, these commercial bots completely break down. They require users to follow slow, automated text trees that are entirely useless when a citizen is navigating a dark road or facing a live safety threat. Current technology treats safety as an afterthought, creating a massive gap in active civic defense infrastructure.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9533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66957-B8C3-BAD9-3CD9-53E8983C057B}"/>
              </a:ext>
            </a:extLst>
          </p:cNvPr>
          <p:cNvSpPr>
            <a:spLocks noGrp="1"/>
          </p:cNvSpPr>
          <p:nvPr>
            <p:ph type="title"/>
          </p:nvPr>
        </p:nvSpPr>
        <p:spPr>
          <a:xfrm>
            <a:off x="3880185" y="398684"/>
            <a:ext cx="8185484" cy="1293028"/>
          </a:xfrm>
        </p:spPr>
        <p:txBody>
          <a:bodyPr>
            <a:normAutofit/>
          </a:bodyPr>
          <a:lstStyle/>
          <a:p>
            <a:pPr algn="ctr"/>
            <a:r>
              <a:rPr lang="en-US" sz="3200" b="1" u="sng" dirty="0">
                <a:solidFill>
                  <a:schemeClr val="accent1"/>
                </a:solidFill>
                <a:latin typeface="Times New Roman" panose="02020603050405020304" pitchFamily="18" charset="0"/>
                <a:cs typeface="Times New Roman" panose="02020603050405020304" pitchFamily="18" charset="0"/>
              </a:rPr>
              <a:t>Target User Demographics </a:t>
            </a:r>
            <a:br>
              <a:rPr lang="en-US" sz="3200" b="1" u="sng" dirty="0">
                <a:solidFill>
                  <a:schemeClr val="accent1"/>
                </a:solidFill>
                <a:latin typeface="Times New Roman" panose="02020603050405020304" pitchFamily="18" charset="0"/>
                <a:cs typeface="Times New Roman" panose="02020603050405020304" pitchFamily="18" charset="0"/>
              </a:rPr>
            </a:br>
            <a:r>
              <a:rPr lang="en-US" sz="3200" b="1" u="sng" dirty="0">
                <a:solidFill>
                  <a:schemeClr val="accent1"/>
                </a:solidFill>
                <a:latin typeface="Times New Roman" panose="02020603050405020304" pitchFamily="18" charset="0"/>
                <a:cs typeface="Times New Roman" panose="02020603050405020304" pitchFamily="18" charset="0"/>
              </a:rPr>
              <a:t>&amp; Real-World Barriers</a:t>
            </a:r>
            <a:endParaRPr lang="en-IN" sz="3200"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C11571-A717-5AFC-CD20-2A45B1AB1F86}"/>
              </a:ext>
            </a:extLst>
          </p:cNvPr>
          <p:cNvSpPr>
            <a:spLocks noGrp="1"/>
          </p:cNvSpPr>
          <p:nvPr>
            <p:ph idx="1"/>
          </p:nvPr>
        </p:nvSpPr>
        <p:spPr>
          <a:xfrm>
            <a:off x="126331" y="1547333"/>
            <a:ext cx="11939338" cy="5166288"/>
          </a:xfrm>
        </p:spPr>
        <p:txBody>
          <a:bodyPr>
            <a:no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Target Demographic: The application directly serves late-shift female corporate workforce employees (such as BPO, customer care, and IT tech park workers), solo evening transit commuters, and university campus students navigating unlit city corridors after dark.</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Pain Point 1 - The Active Typing Barrier (The Panic Trap): Existing emergency helper tools require a victim under intense stress to stare down at their device, interact with small interface elements, and type a paragraph of text or speak commands out loud. In an active threat situation, this behavior is highly dangerous because it breaks situational awareness and alerts potential perpetrators exactly what the user is doing.</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Pain Point 2 - The Connectivity Mirage: High-end AI chatbots fail completely the moment a user enters low-network public areas. Places like concrete basement parking structures, deep elevators, or underground transit metro tunnels frequently experience cellular data drops, rendering traditional cloud-dependent AI tools completely useless when help is needed most.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5063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607C8-DBCF-8141-E62A-FA443F66761C}"/>
              </a:ext>
            </a:extLst>
          </p:cNvPr>
          <p:cNvSpPr>
            <a:spLocks noGrp="1"/>
          </p:cNvSpPr>
          <p:nvPr>
            <p:ph type="title"/>
          </p:nvPr>
        </p:nvSpPr>
        <p:spPr>
          <a:xfrm>
            <a:off x="3639312" y="683875"/>
            <a:ext cx="7940040" cy="1187116"/>
          </a:xfrm>
        </p:spPr>
        <p:txBody>
          <a:bodyPr>
            <a:noAutofit/>
          </a:bodyPr>
          <a:lstStyle/>
          <a:p>
            <a:pPr algn="ctr"/>
            <a:r>
              <a:rPr lang="en-US" sz="3200" b="1" u="sng" dirty="0">
                <a:solidFill>
                  <a:schemeClr val="accent1"/>
                </a:solidFill>
                <a:latin typeface="Times New Roman" panose="02020603050405020304" pitchFamily="18" charset="0"/>
                <a:cs typeface="Times New Roman" panose="02020603050405020304" pitchFamily="18" charset="0"/>
              </a:rPr>
              <a:t>The Solution: Empowered Conversational Dispatching</a:t>
            </a:r>
            <a:endParaRPr lang="en-IN" sz="3200"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1B6D27-E257-C190-EB17-101F1DCB325C}"/>
              </a:ext>
            </a:extLst>
          </p:cNvPr>
          <p:cNvSpPr>
            <a:spLocks noGrp="1"/>
          </p:cNvSpPr>
          <p:nvPr>
            <p:ph idx="1"/>
          </p:nvPr>
        </p:nvSpPr>
        <p:spPr>
          <a:xfrm>
            <a:off x="256674" y="2029968"/>
            <a:ext cx="11249526" cy="4517901"/>
          </a:xfrm>
        </p:spPr>
        <p:txBody>
          <a:bodyPr>
            <a:normAutofit fontScale="85000" lnSpcReduction="200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Adapting the Chatbot Structure: Project ADHYAVI completely reimagines the </a:t>
            </a:r>
            <a:r>
              <a:rPr lang="en-US" dirty="0" err="1">
                <a:latin typeface="Times New Roman" panose="02020603050405020304" pitchFamily="18" charset="0"/>
                <a:cs typeface="Times New Roman" panose="02020603050405020304" pitchFamily="18" charset="0"/>
              </a:rPr>
              <a:t>Saasum</a:t>
            </a:r>
            <a:r>
              <a:rPr lang="en-US" dirty="0">
                <a:latin typeface="Times New Roman" panose="02020603050405020304" pitchFamily="18" charset="0"/>
                <a:cs typeface="Times New Roman" panose="02020603050405020304" pitchFamily="18" charset="0"/>
              </a:rPr>
              <a:t> AI customer support layout. Instead of processing ecommerce tickets, the system provides real-time emergency safety routing, utilizing an AI support assistant named Shakti.</a:t>
            </a:r>
          </a:p>
          <a:p>
            <a:pPr marL="0" indent="0" algn="just">
              <a:lnSpc>
                <a:spcPct val="150000"/>
              </a:lnSpc>
              <a:buNone/>
            </a:pPr>
            <a:r>
              <a:rPr lang="en-US" dirty="0">
                <a:latin typeface="Times New Roman" panose="02020603050405020304" pitchFamily="18" charset="0"/>
                <a:cs typeface="Times New Roman" panose="02020603050405020304" pitchFamily="18" charset="0"/>
              </a:rPr>
              <a:t>Zero-Typing Interaction Deck: To eliminate the typing barrier under stress, the lower interface places high-visibility, single-tap macro action chips directly above the input line. With one touch, an anxious user walking down a street can launch background location-tracking sequences without ever standing still or typing a single character.</a:t>
            </a:r>
          </a:p>
          <a:p>
            <a:pPr marL="0" indent="0" algn="just">
              <a:lnSpc>
                <a:spcPct val="150000"/>
              </a:lnSpc>
              <a:buNone/>
            </a:pPr>
            <a:r>
              <a:rPr lang="en-US" dirty="0">
                <a:latin typeface="Times New Roman" panose="02020603050405020304" pitchFamily="18" charset="0"/>
                <a:cs typeface="Times New Roman" panose="02020603050405020304" pitchFamily="18" charset="0"/>
              </a:rPr>
              <a:t>The Deep Stealth Veil Innovation: At the top header sits a dedicated privacy utility button. Clicking it fires an instantaneous global style swap, instantly transforming the deep crimson safety center dashboard into a boring, plain light-gray academic lecture note sheet. This completely cloaks the user's safety actions from prying eyes in public transit lines while keeping background tracking active.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5316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B0B97-62E3-412E-51FB-58DFCDA56230}"/>
              </a:ext>
            </a:extLst>
          </p:cNvPr>
          <p:cNvSpPr>
            <a:spLocks noGrp="1"/>
          </p:cNvSpPr>
          <p:nvPr>
            <p:ph type="title"/>
          </p:nvPr>
        </p:nvSpPr>
        <p:spPr>
          <a:xfrm>
            <a:off x="3785616" y="444333"/>
            <a:ext cx="7985760" cy="863259"/>
          </a:xfrm>
        </p:spPr>
        <p:txBody>
          <a:bodyPr>
            <a:noAutofit/>
          </a:bodyPr>
          <a:lstStyle/>
          <a:p>
            <a:pPr algn="ctr"/>
            <a:r>
              <a:rPr lang="en-IN" sz="3200" b="1" u="sng" dirty="0">
                <a:solidFill>
                  <a:schemeClr val="accent1"/>
                </a:solidFill>
                <a:latin typeface="Times New Roman" panose="02020603050405020304" pitchFamily="18" charset="0"/>
                <a:cs typeface="Times New Roman" panose="02020603050405020304" pitchFamily="18" charset="0"/>
              </a:rPr>
              <a:t>High-Contrast</a:t>
            </a:r>
            <a:br>
              <a:rPr lang="en-IN" sz="3200" b="1" u="sng" dirty="0">
                <a:solidFill>
                  <a:schemeClr val="accent1"/>
                </a:solidFill>
                <a:latin typeface="Times New Roman" panose="02020603050405020304" pitchFamily="18" charset="0"/>
                <a:cs typeface="Times New Roman" panose="02020603050405020304" pitchFamily="18" charset="0"/>
              </a:rPr>
            </a:br>
            <a:r>
              <a:rPr lang="en-IN" sz="3200" b="1" u="sng" dirty="0">
                <a:solidFill>
                  <a:schemeClr val="accent1"/>
                </a:solidFill>
                <a:latin typeface="Times New Roman" panose="02020603050405020304" pitchFamily="18" charset="0"/>
                <a:cs typeface="Times New Roman" panose="02020603050405020304" pitchFamily="18" charset="0"/>
              </a:rPr>
              <a:t> Technical Architecture</a:t>
            </a:r>
          </a:p>
        </p:txBody>
      </p:sp>
      <p:sp>
        <p:nvSpPr>
          <p:cNvPr id="3" name="Content Placeholder 2">
            <a:extLst>
              <a:ext uri="{FF2B5EF4-FFF2-40B4-BE49-F238E27FC236}">
                <a16:creationId xmlns:a16="http://schemas.microsoft.com/office/drawing/2014/main" id="{1866364C-410A-87FE-CFAC-E5C5698ACC6B}"/>
              </a:ext>
            </a:extLst>
          </p:cNvPr>
          <p:cNvSpPr>
            <a:spLocks noGrp="1"/>
          </p:cNvSpPr>
          <p:nvPr>
            <p:ph idx="1"/>
          </p:nvPr>
        </p:nvSpPr>
        <p:spPr>
          <a:xfrm>
            <a:off x="374904" y="1627632"/>
            <a:ext cx="11512296" cy="4024125"/>
          </a:xfrm>
        </p:spPr>
        <p:txBody>
          <a:bodyPr>
            <a:noAutofit/>
          </a:bodyPr>
          <a:lstStyle/>
          <a:p>
            <a:pPr marL="0" indent="0" algn="just">
              <a:lnSpc>
                <a:spcPct val="160000"/>
              </a:lnSpc>
              <a:buNone/>
            </a:pPr>
            <a:r>
              <a:rPr lang="en-US" sz="1800" dirty="0">
                <a:latin typeface="Times New Roman" panose="02020603050405020304" pitchFamily="18" charset="0"/>
                <a:cs typeface="Times New Roman" panose="02020603050405020304" pitchFamily="18" charset="0"/>
              </a:rPr>
              <a:t>The Frontend Experience: Designed as a mobile-first Progressive Web App (PWA) using pure semantic HTML5 structural containers and a clean CSS3 layout framework. It features high-visibility </a:t>
            </a:r>
            <a:r>
              <a:rPr lang="en-US" sz="1800" dirty="0" err="1">
                <a:latin typeface="Times New Roman" panose="02020603050405020304" pitchFamily="18" charset="0"/>
                <a:cs typeface="Times New Roman" panose="02020603050405020304" pitchFamily="18" charset="0"/>
              </a:rPr>
              <a:t>glassmorphism</a:t>
            </a:r>
            <a:r>
              <a:rPr lang="en-US" sz="1800" dirty="0">
                <a:latin typeface="Times New Roman" panose="02020603050405020304" pitchFamily="18" charset="0"/>
                <a:cs typeface="Times New Roman" panose="02020603050405020304" pitchFamily="18" charset="0"/>
              </a:rPr>
              <a:t> panels, solid black outer smartphone hardware casing borders, and bright white text parameters to guarantee maximum legibility on a laptop display during evaluation.</a:t>
            </a:r>
          </a:p>
          <a:p>
            <a:pPr marL="0" indent="0" algn="just">
              <a:lnSpc>
                <a:spcPct val="160000"/>
              </a:lnSpc>
              <a:buNone/>
            </a:pPr>
            <a:r>
              <a:rPr lang="en-US" sz="1800" dirty="0">
                <a:latin typeface="Times New Roman" panose="02020603050405020304" pitchFamily="18" charset="0"/>
                <a:cs typeface="Times New Roman" panose="02020603050405020304" pitchFamily="18" charset="0"/>
              </a:rPr>
              <a:t>The Interaction Logic Layer: Powered by clean, lightweight Vanilla JavaScript. It handles layout shifts, button text injection, and chat timeline generation smoothly via native event listeners, ensuring the application functions flawlessly across any browser tab with zero compilation bugs.</a:t>
            </a:r>
          </a:p>
          <a:p>
            <a:pPr marL="0" indent="0" algn="just">
              <a:lnSpc>
                <a:spcPct val="160000"/>
              </a:lnSpc>
              <a:buNone/>
            </a:pPr>
            <a:r>
              <a:rPr lang="en-US" sz="1800" dirty="0">
                <a:latin typeface="Times New Roman" panose="02020603050405020304" pitchFamily="18" charset="0"/>
                <a:cs typeface="Times New Roman" panose="02020603050405020304" pitchFamily="18" charset="0"/>
              </a:rPr>
              <a:t>Hardware Defense Integration: Rather than pulling massive audio assets from the cloud, the application leverages the browser's native Web Audio API. It uses built-in audio oscillators to synthesize high-frequency siren waves directly from the device's physical speakers on command, creating an instant acoustic deterrent without needing internet bandwidth.</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2305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21AB95F8-D9EE-0D84-91DE-A2595EDD6E37}"/>
              </a:ext>
            </a:extLst>
          </p:cNvPr>
          <p:cNvPicPr>
            <a:picLocks noGrp="1" noChangeAspect="1"/>
          </p:cNvPicPr>
          <p:nvPr>
            <p:ph sz="half" idx="4294967295"/>
          </p:nvPr>
        </p:nvPicPr>
        <p:blipFill>
          <a:blip r:embed="rId2"/>
          <a:stretch>
            <a:fillRect/>
          </a:stretch>
        </p:blipFill>
        <p:spPr>
          <a:xfrm>
            <a:off x="0" y="0"/>
            <a:ext cx="12160250" cy="6858000"/>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011113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5374B7-22A9-5946-38A2-BEE6F232B17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07863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0DE87-DFA4-C0D3-BC99-C080017C1006}"/>
              </a:ext>
            </a:extLst>
          </p:cNvPr>
          <p:cNvSpPr>
            <a:spLocks noGrp="1"/>
          </p:cNvSpPr>
          <p:nvPr>
            <p:ph type="title"/>
          </p:nvPr>
        </p:nvSpPr>
        <p:spPr>
          <a:xfrm>
            <a:off x="6611112" y="639315"/>
            <a:ext cx="3825240" cy="945555"/>
          </a:xfrm>
        </p:spPr>
        <p:txBody>
          <a:bodyPr/>
          <a:lstStyle/>
          <a:p>
            <a:r>
              <a:rPr lang="en-US" b="1" u="sng" dirty="0">
                <a:solidFill>
                  <a:schemeClr val="accent1"/>
                </a:solidFill>
                <a:latin typeface="Times New Roman" panose="02020603050405020304" pitchFamily="18" charset="0"/>
                <a:cs typeface="Times New Roman" panose="02020603050405020304" pitchFamily="18" charset="0"/>
              </a:rPr>
              <a:t>CONCLUSION </a:t>
            </a:r>
            <a:endParaRPr lang="en-IN"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8192C4-FAA6-8EB6-4043-629CAA643724}"/>
              </a:ext>
            </a:extLst>
          </p:cNvPr>
          <p:cNvSpPr>
            <a:spLocks noGrp="1"/>
          </p:cNvSpPr>
          <p:nvPr>
            <p:ph idx="1"/>
          </p:nvPr>
        </p:nvSpPr>
        <p:spPr>
          <a:xfrm>
            <a:off x="758952" y="1709928"/>
            <a:ext cx="10747248" cy="4508757"/>
          </a:xfrm>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Project ADHYAVI completely reimagines the traditional customer support chatbot framework into a resilient, high-stakes public safety platform. By building Shakti on a lightweight, vanilla architecture, we have successfully eliminated the two primary physical barriers faced by late-night commuters under threat: The Active Typing Barrier and The Connectivity </a:t>
            </a:r>
            <a:r>
              <a:rPr lang="en-US" sz="2400" dirty="0" err="1">
                <a:latin typeface="Times New Roman" panose="02020603050405020304" pitchFamily="18" charset="0"/>
                <a:cs typeface="Times New Roman" panose="02020603050405020304" pitchFamily="18" charset="0"/>
              </a:rPr>
              <a:t>Mirage.Through</a:t>
            </a:r>
            <a:r>
              <a:rPr lang="en-US" sz="2400" dirty="0">
                <a:latin typeface="Times New Roman" panose="02020603050405020304" pitchFamily="18" charset="0"/>
                <a:cs typeface="Times New Roman" panose="02020603050405020304" pitchFamily="18" charset="0"/>
              </a:rPr>
              <a:t> our Zero-Typing Interaction Deck, native Web Audio API hardware sirens, and the Deep Stealth Veil, we prove that safety technology should never be an afterthought—it must be context-aware, instantaneous, and structurally invisible.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3946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5B23F-66A3-027B-2423-64A765C9E237}"/>
              </a:ext>
            </a:extLst>
          </p:cNvPr>
          <p:cNvSpPr>
            <a:spLocks noGrp="1"/>
          </p:cNvSpPr>
          <p:nvPr>
            <p:ph type="ctrTitle"/>
          </p:nvPr>
        </p:nvSpPr>
        <p:spPr>
          <a:xfrm>
            <a:off x="1472184" y="2086869"/>
            <a:ext cx="9448800" cy="1825096"/>
          </a:xfrm>
        </p:spPr>
        <p:txBody>
          <a:bodyPr>
            <a:normAutofit/>
          </a:bodyPr>
          <a:lstStyle/>
          <a:p>
            <a:pPr algn="ctr"/>
            <a:r>
              <a:rPr lang="en-US" sz="9600" u="sng" dirty="0">
                <a:solidFill>
                  <a:schemeClr val="accent1">
                    <a:lumMod val="75000"/>
                  </a:schemeClr>
                </a:solidFill>
                <a:latin typeface="Algerian" panose="04020705040A02060702" pitchFamily="82" charset="0"/>
              </a:rPr>
              <a:t>THANK YOU</a:t>
            </a:r>
            <a:endParaRPr lang="en-IN" sz="9600" u="sng" dirty="0">
              <a:solidFill>
                <a:schemeClr val="accent1">
                  <a:lumMod val="75000"/>
                </a:schemeClr>
              </a:solidFill>
              <a:latin typeface="Algerian" panose="04020705040A02060702" pitchFamily="82" charset="0"/>
            </a:endParaRPr>
          </a:p>
        </p:txBody>
      </p:sp>
      <p:graphicFrame>
        <p:nvGraphicFramePr>
          <p:cNvPr id="4" name="Table 3">
            <a:extLst>
              <a:ext uri="{FF2B5EF4-FFF2-40B4-BE49-F238E27FC236}">
                <a16:creationId xmlns:a16="http://schemas.microsoft.com/office/drawing/2014/main" id="{C094657A-B592-07B0-B43C-80A8B52E2E4E}"/>
              </a:ext>
            </a:extLst>
          </p:cNvPr>
          <p:cNvGraphicFramePr>
            <a:graphicFrameLocks noGrp="1"/>
          </p:cNvGraphicFramePr>
          <p:nvPr>
            <p:extLst>
              <p:ext uri="{D42A27DB-BD31-4B8C-83A1-F6EECF244321}">
                <p14:modId xmlns:p14="http://schemas.microsoft.com/office/powerpoint/2010/main" val="3355647680"/>
              </p:ext>
            </p:extLst>
          </p:nvPr>
        </p:nvGraphicFramePr>
        <p:xfrm>
          <a:off x="7010773" y="5495544"/>
          <a:ext cx="5067761" cy="1362456"/>
        </p:xfrm>
        <a:graphic>
          <a:graphicData uri="http://schemas.openxmlformats.org/drawingml/2006/table">
            <a:tbl>
              <a:tblPr>
                <a:tableStyleId>{3B4B98B0-60AC-42C2-AFA5-B58CD77FA1E5}</a:tableStyleId>
              </a:tblPr>
              <a:tblGrid>
                <a:gridCol w="1865376">
                  <a:extLst>
                    <a:ext uri="{9D8B030D-6E8A-4147-A177-3AD203B41FA5}">
                      <a16:colId xmlns:a16="http://schemas.microsoft.com/office/drawing/2014/main" val="1980266471"/>
                    </a:ext>
                  </a:extLst>
                </a:gridCol>
                <a:gridCol w="3202385">
                  <a:extLst>
                    <a:ext uri="{9D8B030D-6E8A-4147-A177-3AD203B41FA5}">
                      <a16:colId xmlns:a16="http://schemas.microsoft.com/office/drawing/2014/main" val="2040345656"/>
                    </a:ext>
                  </a:extLst>
                </a:gridCol>
              </a:tblGrid>
              <a:tr h="691896">
                <a:tc>
                  <a:txBody>
                    <a:bodyPr/>
                    <a:lstStyle/>
                    <a:p>
                      <a:pPr>
                        <a:buNone/>
                      </a:pPr>
                      <a:r>
                        <a:rPr lang="en-US" b="1" dirty="0">
                          <a:effectLst/>
                        </a:rPr>
                        <a:t>Name</a:t>
                      </a:r>
                      <a:endParaRPr lang="en-IN" b="1" dirty="0">
                        <a:effectLst/>
                      </a:endParaRPr>
                    </a:p>
                  </a:txBody>
                  <a:tcPr marT="60960" marB="60960"/>
                </a:tc>
                <a:tc>
                  <a:txBody>
                    <a:bodyPr/>
                    <a:lstStyle/>
                    <a:p>
                      <a:pPr>
                        <a:buNone/>
                      </a:pPr>
                      <a:r>
                        <a:rPr lang="en-US" b="1" dirty="0">
                          <a:effectLst/>
                        </a:rPr>
                        <a:t>ANUPAMA SETHI</a:t>
                      </a:r>
                      <a:endParaRPr lang="en-IN" b="1" dirty="0">
                        <a:effectLst/>
                      </a:endParaRPr>
                    </a:p>
                  </a:txBody>
                  <a:tcPr marT="60960" marB="60960"/>
                </a:tc>
                <a:extLst>
                  <a:ext uri="{0D108BD9-81ED-4DB2-BD59-A6C34878D82A}">
                    <a16:rowId xmlns:a16="http://schemas.microsoft.com/office/drawing/2014/main" val="2410666728"/>
                  </a:ext>
                </a:extLst>
              </a:tr>
              <a:tr h="643283">
                <a:tc>
                  <a:txBody>
                    <a:bodyPr/>
                    <a:lstStyle/>
                    <a:p>
                      <a:pPr>
                        <a:buNone/>
                      </a:pPr>
                      <a:r>
                        <a:rPr lang="en-IN" b="1" dirty="0">
                          <a:effectLst/>
                        </a:rPr>
                        <a:t>Registration ID</a:t>
                      </a:r>
                    </a:p>
                  </a:txBody>
                  <a:tcPr marT="60960" marB="6096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effectLst/>
                        </a:rPr>
                        <a:t>SummerSaas26752</a:t>
                      </a:r>
                    </a:p>
                    <a:p>
                      <a:pPr>
                        <a:buNone/>
                      </a:pPr>
                      <a:endParaRPr lang="en-IN" b="1" dirty="0">
                        <a:effectLst/>
                      </a:endParaRPr>
                    </a:p>
                  </a:txBody>
                  <a:tcPr marT="60960" marB="60960"/>
                </a:tc>
                <a:extLst>
                  <a:ext uri="{0D108BD9-81ED-4DB2-BD59-A6C34878D82A}">
                    <a16:rowId xmlns:a16="http://schemas.microsoft.com/office/drawing/2014/main" val="1868459953"/>
                  </a:ext>
                </a:extLst>
              </a:tr>
            </a:tbl>
          </a:graphicData>
        </a:graphic>
      </p:graphicFrame>
    </p:spTree>
    <p:extLst>
      <p:ext uri="{BB962C8B-B14F-4D97-AF65-F5344CB8AC3E}">
        <p14:creationId xmlns:p14="http://schemas.microsoft.com/office/powerpoint/2010/main" val="219765547"/>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TM04033937[[fn=Vapor Trail]]</Template>
  <TotalTime>88</TotalTime>
  <Words>799</Words>
  <Application>Microsoft Office PowerPoint</Application>
  <PresentationFormat>Widescreen</PresentationFormat>
  <Paragraphs>35</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Algerian</vt:lpstr>
      <vt:lpstr>Arial</vt:lpstr>
      <vt:lpstr>Calibri</vt:lpstr>
      <vt:lpstr>Century Gothic</vt:lpstr>
      <vt:lpstr>Times New Roman</vt:lpstr>
      <vt:lpstr>Wingdings</vt:lpstr>
      <vt:lpstr>Vapor Trail</vt:lpstr>
      <vt:lpstr>ADHYAVI</vt:lpstr>
      <vt:lpstr>ADHYAVI </vt:lpstr>
      <vt:lpstr>The Core Problem Statement</vt:lpstr>
      <vt:lpstr>Target User Demographics  &amp; Real-World Barriers</vt:lpstr>
      <vt:lpstr>The Solution: Empowered Conversational Dispatching</vt:lpstr>
      <vt:lpstr>High-Contrast  Technical Architecture</vt:lpstr>
      <vt:lpstr>PowerPoint Presentation</vt:lpstr>
      <vt:lpstr>PowerPoint Presentation</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Sethi</dc:creator>
  <cp:lastModifiedBy>Abhishek Sethi</cp:lastModifiedBy>
  <cp:revision>2</cp:revision>
  <dcterms:created xsi:type="dcterms:W3CDTF">2026-05-17T19:51:50Z</dcterms:created>
  <dcterms:modified xsi:type="dcterms:W3CDTF">2026-05-18T05:24:51Z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